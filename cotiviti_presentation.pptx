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0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7815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474720"/>
            <a:ext cx="2011680" cy="2011680"/>
          </a:xfrm>
          <a:prstGeom prst="ellipse">
            <a:avLst/>
          </a:prstGeom>
          <a:solidFill>
            <a:srgbClr val="5EEAD4">
              <a:alpha val="18000"/>
            </a:srgbClr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48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 ASSESSMENT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Decision Making &amp;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 in Health Care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Generative AI · Classification · Prediction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Anomaly Detection for TPO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703320"/>
            <a:ext cx="50292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840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Moditha Lekkala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502920" cy="5029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3000" y="10972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Definition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444752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clinical AI for TPO?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892808"/>
            <a:ext cx="502920" cy="5029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92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" y="18470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Trends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19456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industry is heading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642616"/>
            <a:ext cx="502920" cy="5029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426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" y="259689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&amp; Threats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2944368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landscape for payers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392424"/>
            <a:ext cx="502920" cy="5029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3924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" y="334670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Demo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3694176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anomaly detection prototype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142232"/>
            <a:ext cx="502920" cy="5029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142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3000" y="40965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3000" y="4443984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plays for Cotiviti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Clinical AI for TPO?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· Payment · Operations (TPO)
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that classify, predict, and detect anomalies across the full healthcare data spectrum - clinical, administrative, and financial.
</a:t>
            </a:r>
            <a:endParaRPr lang="en-US" sz="15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Technologies
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Classification : Diagnosis codes, billing accuracy, fraud signatures
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Prediction : Readmission risk, cost forecasting, utilization trends
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Chain Reasoning : LLM step-by-step clinical logic
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Time-Series Anomaly Detection : Billing pattern surveillance
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Agentic AI : Autonomous multi-step orchestration across all of the above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52160" y="1005840"/>
            <a:ext cx="2926080" cy="1188720"/>
          </a:xfrm>
          <a:prstGeom prst="roundRect">
            <a:avLst>
              <a:gd name="adj" fmla="val 6154"/>
            </a:avLst>
          </a:prstGeom>
          <a:solidFill>
            <a:srgbClr val="1B3A6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89320" y="1078992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$100B+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943600" y="157276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U.S. healthcare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fraud, waste &amp; abuse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852160" y="2350008"/>
            <a:ext cx="2926080" cy="1188720"/>
          </a:xfrm>
          <a:prstGeom prst="roundRect">
            <a:avLst>
              <a:gd name="adj" fmla="val 6154"/>
            </a:avLst>
          </a:prstGeom>
          <a:solidFill>
            <a:srgbClr val="F0F9F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89320" y="242316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943600" y="291693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costs as share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hospital budgets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52160" y="3694176"/>
            <a:ext cx="2926080" cy="1188720"/>
          </a:xfrm>
          <a:prstGeom prst="roundRect">
            <a:avLst>
              <a:gd name="adj" fmla="val 6154"/>
            </a:avLst>
          </a:prstGeom>
          <a:solidFill>
            <a:srgbClr val="F0F9F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89320" y="3767328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1,250+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943600" y="426110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FDA-cleared AI medical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(2025)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Trends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25272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16128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Acceleration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1527048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&lt;1% of enterprise software in 2024 to mainstream adoption by 2028 (Gartner). MUSC Health, Mayo Clinic already running pilots.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10912" y="125272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0" y="116128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Prepayment Shift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10912" y="1527048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moves payment integrity from retrospective audit to real-time prepay review — catching errors before disbursement.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" y="303580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94436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" y="3310128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like DynamiCare show specialized agents (history, diagnosis, guidelines) collaborating on open-ended clinical decisions.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83464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10912" y="303580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294436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Mandate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10912" y="3310128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and payers require auditable reasoning chains behind every AI-driven claim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&amp; Threats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05840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4023360" cy="685800"/>
          </a:xfrm>
          <a:prstGeom prst="roundRect">
            <a:avLst>
              <a:gd name="adj" fmla="val 9333"/>
            </a:avLst>
          </a:prstGeom>
          <a:solidFill>
            <a:srgbClr val="F0FDF4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36192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prior auth, coding validation &amp; claims review → cut 20% admin overhead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313432"/>
            <a:ext cx="4023360" cy="685800"/>
          </a:xfrm>
          <a:prstGeom prst="roundRect">
            <a:avLst>
              <a:gd name="adj" fmla="val 9333"/>
            </a:avLst>
          </a:prstGeom>
          <a:solidFill>
            <a:srgbClr val="F0FDF4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40864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on longitudinal claims → catch FWA missed by rules engines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3118104"/>
            <a:ext cx="4023360" cy="685800"/>
          </a:xfrm>
          <a:prstGeom prst="roundRect">
            <a:avLst>
              <a:gd name="adj" fmla="val 9333"/>
            </a:avLst>
          </a:prstGeom>
          <a:solidFill>
            <a:srgbClr val="F0FDF4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145536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models for high-cost member episodes → enable case management ROI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922776"/>
            <a:ext cx="4023360" cy="685800"/>
          </a:xfrm>
          <a:prstGeom prst="roundRect">
            <a:avLst>
              <a:gd name="adj" fmla="val 9333"/>
            </a:avLst>
          </a:prstGeom>
          <a:solidFill>
            <a:srgbClr val="F0FDF4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950208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SDOH + clinical + claims integration → richer risk stratification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0058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508760"/>
            <a:ext cx="4023360" cy="685800"/>
          </a:xfrm>
          <a:prstGeom prst="roundRect">
            <a:avLst>
              <a:gd name="adj" fmla="val 9333"/>
            </a:avLst>
          </a:prstGeom>
          <a:solidFill>
            <a:srgbClr val="FFF1F1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536192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hallucinations risk patient safety if clinical recommendations go unreviewed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313432"/>
            <a:ext cx="4023360" cy="685800"/>
          </a:xfrm>
          <a:prstGeom prst="roundRect">
            <a:avLst>
              <a:gd name="adj" fmla="val 9333"/>
            </a:avLst>
          </a:prstGeom>
          <a:solidFill>
            <a:srgbClr val="FFF1F1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340864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billing manipulation to evade anomaly detection thresholds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3118104"/>
            <a:ext cx="4023360" cy="685800"/>
          </a:xfrm>
          <a:prstGeom prst="roundRect">
            <a:avLst>
              <a:gd name="adj" fmla="val 9333"/>
            </a:avLst>
          </a:prstGeom>
          <a:solidFill>
            <a:srgbClr val="FFF1F1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145536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bias in training data → inequitable treatment authorization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3922776"/>
            <a:ext cx="4023360" cy="685800"/>
          </a:xfrm>
          <a:prstGeom prst="roundRect">
            <a:avLst>
              <a:gd name="adj" fmla="val 9333"/>
            </a:avLst>
          </a:prstGeom>
          <a:solidFill>
            <a:srgbClr val="FFF1F1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950208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uncertainty on liability for autonomous clinical AI decisions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Demo — Agentic Claims Anomaly Detector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5156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1B3A6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24712" y="10058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4712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361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90195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26 weeks × 5 providers synthetic claims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31720" y="1755648"/>
            <a:ext cx="25603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87752" y="105156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F0F9F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00984" y="10058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00984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87752" y="15361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Agent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79192" y="190195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time-series analysis (threshold 2.5σ)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07992" y="1755648"/>
            <a:ext cx="25603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64024" y="105156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F0F9F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77256" y="10058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77256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64024" y="15361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Agent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55464" y="190195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tiering: HIGH / MEDIUM / LOW + action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84264" y="1755648"/>
            <a:ext cx="25603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0296" y="105156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F0F9F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653528" y="10058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53528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40296" y="15361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 Agent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31736" y="190195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ASCII dashboard + structured JSON output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27432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 — Week of 2025-06-02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11480" y="3127248"/>
            <a:ext cx="2103120" cy="393192"/>
          </a:xfrm>
          <a:prstGeom prst="rect">
            <a:avLst/>
          </a:prstGeom>
          <a:solidFill>
            <a:srgbClr val="1B3A6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14553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14600" y="3127248"/>
            <a:ext cx="777240" cy="393192"/>
          </a:xfrm>
          <a:prstGeom prst="rect">
            <a:avLst/>
          </a:prstGeom>
          <a:solidFill>
            <a:srgbClr val="1B3A6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0" y="314553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91840" y="3127248"/>
            <a:ext cx="777240" cy="393192"/>
          </a:xfrm>
          <a:prstGeom prst="rect">
            <a:avLst/>
          </a:prstGeom>
          <a:solidFill>
            <a:srgbClr val="1B3A6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314553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069080" y="3127248"/>
            <a:ext cx="822960" cy="393192"/>
          </a:xfrm>
          <a:prstGeom prst="rect">
            <a:avLst/>
          </a:prstGeom>
          <a:solidFill>
            <a:srgbClr val="1B3A6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0" y="314553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92040" y="3127248"/>
            <a:ext cx="777240" cy="393192"/>
          </a:xfrm>
          <a:prstGeom prst="rect">
            <a:avLst/>
          </a:prstGeom>
          <a:solidFill>
            <a:srgbClr val="1B3A6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314553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669280" y="3127248"/>
            <a:ext cx="1600200" cy="393192"/>
          </a:xfrm>
          <a:prstGeom prst="rect">
            <a:avLst/>
          </a:prstGeom>
          <a:solidFill>
            <a:srgbClr val="1B3A6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15000" y="3145536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11480" y="3529584"/>
            <a:ext cx="21031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54787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Cardiology Associates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514600" y="3529584"/>
            <a:ext cx="777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60320" y="3547872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91840" y="3529584"/>
            <a:ext cx="777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37560" y="3547872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069080" y="3529584"/>
            <a:ext cx="8229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0" y="354787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~62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892040" y="3529584"/>
            <a:ext cx="777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37760" y="3547872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4.22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669280" y="3529584"/>
            <a:ext cx="1600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15000" y="354787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FWA Escalation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11480" y="3931920"/>
            <a:ext cx="2103120" cy="393192"/>
          </a:xfrm>
          <a:prstGeom prst="rect">
            <a:avLst/>
          </a:prstGeom>
          <a:solidFill>
            <a:srgbClr val="F0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39502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Sunrise Family Medicine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514600" y="3931920"/>
            <a:ext cx="777240" cy="393192"/>
          </a:xfrm>
          <a:prstGeom prst="rect">
            <a:avLst/>
          </a:prstGeom>
          <a:solidFill>
            <a:srgbClr val="F0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60320" y="3950208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291840" y="3931920"/>
            <a:ext cx="777240" cy="393192"/>
          </a:xfrm>
          <a:prstGeom prst="rect">
            <a:avLst/>
          </a:prstGeom>
          <a:solidFill>
            <a:srgbClr val="F0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337560" y="3950208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274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069080" y="3931920"/>
            <a:ext cx="822960" cy="393192"/>
          </a:xfrm>
          <a:prstGeom prst="rect">
            <a:avLst/>
          </a:prstGeom>
          <a:solidFill>
            <a:srgbClr val="F0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114800" y="395020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~114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892040" y="3931920"/>
            <a:ext cx="777240" cy="393192"/>
          </a:xfrm>
          <a:prstGeom prst="rect">
            <a:avLst/>
          </a:prstGeom>
          <a:solidFill>
            <a:srgbClr val="F0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37760" y="3950208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4.03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669280" y="3931920"/>
            <a:ext cx="1600200" cy="393192"/>
          </a:xfrm>
          <a:prstGeom prst="rect">
            <a:avLst/>
          </a:prstGeom>
          <a:solidFill>
            <a:srgbClr val="F0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15000" y="395020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FWA Escalation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11480" y="4334256"/>
            <a:ext cx="21031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" y="435254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FraudAlert Specialty Group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514600" y="4334256"/>
            <a:ext cx="777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560320" y="4352544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291840" y="4334256"/>
            <a:ext cx="777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337560" y="4352544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615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069080" y="4334256"/>
            <a:ext cx="8229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114800" y="4352544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~196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4892040" y="4334256"/>
            <a:ext cx="777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937760" y="4352544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2.82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5669280" y="4334256"/>
            <a:ext cx="1600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715000" y="4352544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Prepay Review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 for Cotiviti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87552"/>
            <a:ext cx="8321040" cy="1188720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12700">
            <a:solidFill>
              <a:srgbClr val="1B3A6B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307592"/>
            <a:ext cx="502920" cy="5029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307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70432" y="107899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Agentic Prepayment Review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70432" y="1426464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multi-agent orchestration layer combining Cotiviti's payment accuracy rules with LLM chain reasoning. A policy-retrieval agent + billing classification agent + anomaly agent enables prepayment decisions with higher precision than current rule engines.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629400" y="1307592"/>
            <a:ext cx="1965960" cy="530352"/>
          </a:xfrm>
          <a:prstGeom prst="roundRect">
            <a:avLst>
              <a:gd name="adj" fmla="val 12069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47688" y="130759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15–25% reduction in false-positive audits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286000"/>
            <a:ext cx="8321040" cy="1188720"/>
          </a:xfrm>
          <a:prstGeom prst="roundRect">
            <a:avLst>
              <a:gd name="adj" fmla="val 7692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30352" y="26060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70432" y="237744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Anomaly Detection for TPO Intelligence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70432" y="2724912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longitudinal claims sequences - not isolated claims - for billing escalation patterns, treatment frequency anomalies, and operational irregularities. Provider-level time-series surfaces systematic upcoding and unbundling that cross-claim analysis misses.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629400" y="2606040"/>
            <a:ext cx="1965960" cy="530352"/>
          </a:xfrm>
          <a:prstGeom prst="roundRect">
            <a:avLst>
              <a:gd name="adj" fmla="val 1206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47688" y="260604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Incremental FWA recovery on top of existing detection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3584448"/>
            <a:ext cx="8321040" cy="1188720"/>
          </a:xfrm>
          <a:prstGeom prst="roundRect">
            <a:avLst>
              <a:gd name="adj" fmla="val 7692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904488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904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70432" y="367588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an Explainability &amp; Audit Framework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70432" y="4023360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structured reasoning trails into every AI-driven recommendation. As regulators scrutinize AI claim denials, an auditable AI layer differentiates Cotiviti's offering and manages liability risk - turning explainability from a cost into a competitive moat.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629400" y="3904488"/>
            <a:ext cx="1965960" cy="530352"/>
          </a:xfrm>
          <a:prstGeom prst="roundRect">
            <a:avLst>
              <a:gd name="adj" fmla="val 1206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47688" y="390448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Full audit trail on 100% of AI-flagged decisions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657600" cy="36576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457200"/>
            <a:ext cx="2743200" cy="2743200"/>
          </a:xfrm>
          <a:prstGeom prst="ellipse">
            <a:avLst/>
          </a:prstGeom>
          <a:solidFill>
            <a:srgbClr val="5EEAD4">
              <a:alpha val="15000"/>
            </a:srgbClr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+ Time-Series Anomaly Detection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Payment Integrity at Scale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0" y="3063240"/>
            <a:ext cx="45720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246120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643</Words>
  <Application>Microsoft Office PowerPoint</Application>
  <PresentationFormat>On-screen Show (16:9)</PresentationFormat>
  <Paragraphs>122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Clinical Decision Making &amp; Pattern Recognition in Health Care</dc:title>
  <dc:subject>PptxGenJS Presentation</dc:subject>
  <dc:creator>Moditha</dc:creator>
  <cp:lastModifiedBy>Moditha Chowdary Lekkala</cp:lastModifiedBy>
  <cp:revision>3</cp:revision>
  <dcterms:created xsi:type="dcterms:W3CDTF">2026-06-28T18:59:27Z</dcterms:created>
  <dcterms:modified xsi:type="dcterms:W3CDTF">2026-06-28T21:57:34Z</dcterms:modified>
</cp:coreProperties>
</file>